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6caa4a356c4603" /><Relationship Type="http://schemas.openxmlformats.org/officeDocument/2006/relationships/extended-properties" Target="/docProps/app.xml" Id="Recb9a9e9a685476e" /><Relationship Type="http://schemas.openxmlformats.org/officeDocument/2006/relationships/officeDocument" Target="/ppt/presentation.xml" Id="R2408385725444f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58a7bef77d4033"/>
  </p:sldMasterIdLst>
  <p:notesMasterIdLst>
    <p:notesMasterId xmlns:r="http://schemas.openxmlformats.org/officeDocument/2006/relationships" r:id="R03bb8e75baf940a2"/>
  </p:notesMasterIdLst>
  <p:sldIdLst>
    <p:sldId xmlns:r="http://schemas.openxmlformats.org/officeDocument/2006/relationships" id="256" r:id="R91022b0a59df42d8"/>
    <p:sldId xmlns:r="http://schemas.openxmlformats.org/officeDocument/2006/relationships" id="257" r:id="R815e646efd644d2b"/>
    <p:sldId xmlns:r="http://schemas.openxmlformats.org/officeDocument/2006/relationships" id="258" r:id="R7e9977decc924cb4"/>
    <p:sldId xmlns:r="http://schemas.openxmlformats.org/officeDocument/2006/relationships" id="259" r:id="Rea9a2ae2c0ff4062"/>
    <p:sldId xmlns:r="http://schemas.openxmlformats.org/officeDocument/2006/relationships" id="260" r:id="R0f09a328e0214591"/>
    <p:sldId xmlns:r="http://schemas.openxmlformats.org/officeDocument/2006/relationships" id="261" r:id="R4c2e4273dfa54312"/>
    <p:sldId xmlns:r="http://schemas.openxmlformats.org/officeDocument/2006/relationships" id="262" r:id="Redcdaf2bd083458c"/>
    <p:sldId xmlns:r="http://schemas.openxmlformats.org/officeDocument/2006/relationships" id="263" r:id="Rd45e04823ddf42a2"/>
    <p:sldId xmlns:r="http://schemas.openxmlformats.org/officeDocument/2006/relationships" id="264" r:id="R566d602279e645e0"/>
    <p:sldId xmlns:r="http://schemas.openxmlformats.org/officeDocument/2006/relationships" id="265" r:id="R8d34449f922d43ff"/>
    <p:sldId xmlns:r="http://schemas.openxmlformats.org/officeDocument/2006/relationships" id="266" r:id="R6218f42f68764059"/>
    <p:sldId xmlns:r="http://schemas.openxmlformats.org/officeDocument/2006/relationships" id="267" r:id="R87f341467ff14b12"/>
    <p:sldId xmlns:r="http://schemas.openxmlformats.org/officeDocument/2006/relationships" id="268" r:id="Re32c7c02ba9743e3"/>
    <p:sldId xmlns:r="http://schemas.openxmlformats.org/officeDocument/2006/relationships" id="269" r:id="R56b28b87222146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8a7bef77d4033" /><Relationship Type="http://schemas.openxmlformats.org/officeDocument/2006/relationships/theme" Target="/ppt/theme/theme1.xml" Id="R01f6d2e3db3448e5" /><Relationship Type="http://schemas.openxmlformats.org/officeDocument/2006/relationships/notesMaster" Target="/ppt/notesMasters/notesMaster1.xml" Id="R03bb8e75baf940a2" /><Relationship Type="http://schemas.openxmlformats.org/officeDocument/2006/relationships/presProps" Target="/ppt/presProps.xml" Id="R39c87b72528e40ac" /><Relationship Type="http://schemas.openxmlformats.org/officeDocument/2006/relationships/viewProps" Target="/ppt/viewProps.xml" Id="Rfbeb3e02d04a4cfe" /><Relationship Type="http://schemas.openxmlformats.org/officeDocument/2006/relationships/tableStyles" Target="/ppt/tableStyles.xml" Id="R4b05b3bcb7ba4046" /><Relationship Type="http://schemas.openxmlformats.org/officeDocument/2006/relationships/slide" Target="/ppt/slides/slide1.xml" Id="R91022b0a59df42d8" /><Relationship Type="http://schemas.openxmlformats.org/officeDocument/2006/relationships/slide" Target="/ppt/slides/slide2.xml" Id="R815e646efd644d2b" /><Relationship Type="http://schemas.openxmlformats.org/officeDocument/2006/relationships/slide" Target="/ppt/slides/slide3.xml" Id="R7e9977decc924cb4" /><Relationship Type="http://schemas.openxmlformats.org/officeDocument/2006/relationships/slide" Target="/ppt/slides/slide4.xml" Id="Rea9a2ae2c0ff4062" /><Relationship Type="http://schemas.openxmlformats.org/officeDocument/2006/relationships/slide" Target="/ppt/slides/slide5.xml" Id="R0f09a328e0214591" /><Relationship Type="http://schemas.openxmlformats.org/officeDocument/2006/relationships/slide" Target="/ppt/slides/slide6.xml" Id="R4c2e4273dfa54312" /><Relationship Type="http://schemas.openxmlformats.org/officeDocument/2006/relationships/slide" Target="/ppt/slides/slide7.xml" Id="Redcdaf2bd083458c" /><Relationship Type="http://schemas.openxmlformats.org/officeDocument/2006/relationships/slide" Target="/ppt/slides/slide8.xml" Id="Rd45e04823ddf42a2" /><Relationship Type="http://schemas.openxmlformats.org/officeDocument/2006/relationships/slide" Target="/ppt/slides/slide9.xml" Id="R566d602279e645e0" /><Relationship Type="http://schemas.openxmlformats.org/officeDocument/2006/relationships/slide" Target="/ppt/slides/slide10.xml" Id="R8d34449f922d43ff" /><Relationship Type="http://schemas.openxmlformats.org/officeDocument/2006/relationships/slide" Target="/ppt/slides/slide11.xml" Id="R6218f42f68764059" /><Relationship Type="http://schemas.openxmlformats.org/officeDocument/2006/relationships/slide" Target="/ppt/slides/slide12.xml" Id="R87f341467ff14b12" /><Relationship Type="http://schemas.openxmlformats.org/officeDocument/2006/relationships/slide" Target="/ppt/slides/slide13.xml" Id="Re32c7c02ba9743e3" /><Relationship Type="http://schemas.openxmlformats.org/officeDocument/2006/relationships/slide" Target="/ppt/slides/slide14.xml" Id="R56b28b87222146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303c078005d4a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da6ca6e8284aad" /><Relationship Type="http://schemas.openxmlformats.org/officeDocument/2006/relationships/notesMaster" Target="/ppt/notesMasters/notesMaster1.xml" Id="Raf672edeb66443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2914047cc84045" /><Relationship Type="http://schemas.openxmlformats.org/officeDocument/2006/relationships/notesMaster" Target="/ppt/notesMasters/notesMaster1.xml" Id="R0d0759afbbf541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6a429621e4e1a" /><Relationship Type="http://schemas.openxmlformats.org/officeDocument/2006/relationships/notesMaster" Target="/ppt/notesMasters/notesMaster1.xml" Id="R7cb11b6fa84f45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c7dd52d2444b10" /><Relationship Type="http://schemas.openxmlformats.org/officeDocument/2006/relationships/notesMaster" Target="/ppt/notesMasters/notesMaster1.xml" Id="R5df6d1743cb348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9db99c8ed04201" /><Relationship Type="http://schemas.openxmlformats.org/officeDocument/2006/relationships/notesMaster" Target="/ppt/notesMasters/notesMaster1.xml" Id="R022d4c3a43f548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30b1f0c2e74ea4" /><Relationship Type="http://schemas.openxmlformats.org/officeDocument/2006/relationships/notesMaster" Target="/ppt/notesMasters/notesMaster1.xml" Id="R6c4e5e0bc03247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55b3ac1ac44b7d" /><Relationship Type="http://schemas.openxmlformats.org/officeDocument/2006/relationships/notesMaster" Target="/ppt/notesMasters/notesMaster1.xml" Id="R7d32fdc88c4b41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6b8f7bfedb41f1" /><Relationship Type="http://schemas.openxmlformats.org/officeDocument/2006/relationships/notesMaster" Target="/ppt/notesMasters/notesMaster1.xml" Id="R00ff9bd535a743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6ef0377a334a59" /><Relationship Type="http://schemas.openxmlformats.org/officeDocument/2006/relationships/notesMaster" Target="/ppt/notesMasters/notesMaster1.xml" Id="Rb9319ed99fad45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8de0e8606e40df" /><Relationship Type="http://schemas.openxmlformats.org/officeDocument/2006/relationships/notesMaster" Target="/ppt/notesMasters/notesMaster1.xml" Id="R662616e273cb4a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8ac6f74eb94ef8" /><Relationship Type="http://schemas.openxmlformats.org/officeDocument/2006/relationships/notesMaster" Target="/ppt/notesMasters/notesMaster1.xml" Id="R19b9f9d8383449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26724732d7455f" /><Relationship Type="http://schemas.openxmlformats.org/officeDocument/2006/relationships/notesMaster" Target="/ppt/notesMasters/notesMaster1.xml" Id="R6f6bd5639f8e4a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edfdc41c2740ae" /><Relationship Type="http://schemas.openxmlformats.org/officeDocument/2006/relationships/notesMaster" Target="/ppt/notesMasters/notesMaster1.xml" Id="R349f8602279e4e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06b964969e4b81" /><Relationship Type="http://schemas.openxmlformats.org/officeDocument/2006/relationships/notesMaster" Target="/ppt/notesMasters/notesMaster1.xml" Id="R4ad7b86d1d954a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96586001649a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5B9BF59-2CCE-43E8-A7D7-4F1DBF4F50F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5579A0E-169E-42C3-96B5-7C08699204E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306C03-8BDD-43AC-B380-0D08293A1DE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F2BAE1-01ED-4C9D-BD06-B4BE557DBFE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64fdd6199e04989" /><Relationship Type="http://schemas.openxmlformats.org/officeDocument/2006/relationships/slideLayout" Target="/ppt/slideLayouts/slideLayout2.xml" Id="R20552288b62449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969809-E5B2-4752-945D-B55CE3182CB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52288b62449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0439d51d2a442d" /><Relationship Type="http://schemas.openxmlformats.org/officeDocument/2006/relationships/notesSlide" Target="/ppt/notesSlides/notesSlide1.xml" Id="Rb1158f917dee4e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7379da1dca48cb" /><Relationship Type="http://schemas.openxmlformats.org/officeDocument/2006/relationships/notesSlide" Target="/ppt/notesSlides/notesSlide2.xml" Id="R115b6f5fa7b94a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b4e34af4d34015" /><Relationship Type="http://schemas.openxmlformats.org/officeDocument/2006/relationships/notesSlide" Target="/ppt/notesSlides/notesSlide3.xml" Id="Rd245e3537eed4e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08514e7bf54148" /><Relationship Type="http://schemas.openxmlformats.org/officeDocument/2006/relationships/notesSlide" Target="/ppt/notesSlides/notesSlide4.xml" Id="R0230bc9a901f44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bc2788613547de" /><Relationship Type="http://schemas.openxmlformats.org/officeDocument/2006/relationships/notesSlide" Target="/ppt/notesSlides/notesSlide5.xml" Id="Ra5ec43b7e23845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5f2a4cb82a4ba3" /><Relationship Type="http://schemas.openxmlformats.org/officeDocument/2006/relationships/notesSlide" Target="/ppt/notesSlides/notesSlide6.xml" Id="R8e100faadfef4c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6a64c699114bc1" /><Relationship Type="http://schemas.openxmlformats.org/officeDocument/2006/relationships/notesSlide" Target="/ppt/notesSlides/notesSlide7.xml" Id="R196d4a26542548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8dc40af93740d2" /><Relationship Type="http://schemas.openxmlformats.org/officeDocument/2006/relationships/notesSlide" Target="/ppt/notesSlides/notesSlide8.xml" Id="R224f3923a75449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f885fea0554927" /><Relationship Type="http://schemas.openxmlformats.org/officeDocument/2006/relationships/notesSlide" Target="/ppt/notesSlides/notesSlide9.xml" Id="R0f02c7b012e242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3670bb905c429f" /><Relationship Type="http://schemas.openxmlformats.org/officeDocument/2006/relationships/notesSlide" Target="/ppt/notesSlides/notesSlide10.xml" Id="Rc7253ec72cee41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5569046c9418e" /><Relationship Type="http://schemas.openxmlformats.org/officeDocument/2006/relationships/notesSlide" Target="/ppt/notesSlides/notesSlide11.xml" Id="R945bcd84244e43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ff88ea8a354e34" /><Relationship Type="http://schemas.openxmlformats.org/officeDocument/2006/relationships/notesSlide" Target="/ppt/notesSlides/notesSlide12.xml" Id="R6665564123e543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3430653dea42b2" /><Relationship Type="http://schemas.openxmlformats.org/officeDocument/2006/relationships/notesSlide" Target="/ppt/notesSlides/notesSlide13.xml" Id="Rb102afa4c13740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f42cb8d73a4e5a" /><Relationship Type="http://schemas.openxmlformats.org/officeDocument/2006/relationships/notesSlide" Target="/ppt/notesSlides/notesSlide14.xml" Id="Ra2de3eca25504e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519D9-4CC9-48EA-81E3-53FBAC0A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DD351-082C-4EF4-8B84-1966715C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B79C3-4384-4493-B050-8A933CDA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565BD-2D36-4C96-9221-D3E79BD9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29949-4A49-4715-84AE-4F66728A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0B162-93AB-4542-BD1A-BFC8371B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41FA3-E9FD-4D59-9974-53158AC2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8D778-E189-4BDA-A038-E0A437F5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C810E-1033-4C1F-84EE-A72CE2C7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A6611-5A9E-4660-B53A-948F1671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CBC67-22DF-4C45-8F41-2E071BE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F9406-3B7D-464A-AEB9-66831A80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SolusCRT Saude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A4D62-7612-4FF9-B169-E4187192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Sala de controle epidemiologica com IA para antecipar riscos e orientar decisoes.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C0588-99A0-44DC-A22B-E0A66082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E6D0">
              <a:alpha val="13333"/>
            </a:srgbClr>
          </a:solidFill>
          <a:ln xmlns:a="http://schemas.openxmlformats.org/drawingml/2006/main" w="11430">
            <a:solidFill>
              <a:srgbClr val="32E6D0">
                <a:alpha val="53333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2E6D0"/>
                </a:solidFill>
              </a:defRPr>
            </a:pPr>
            <a:r>
              <a:rPr sz="1125" b="1">
                <a:solidFill>
                  <a:srgbClr val="32E6D0"/>
                </a:solidFill>
              </a:rPr>
              <a:t>App populacional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7A3FA-0F48-4A4F-9CF9-B3689449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669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C0FC">
              <a:alpha val="13333"/>
            </a:srgbClr>
          </a:solidFill>
          <a:ln xmlns:a="http://schemas.openxmlformats.org/drawingml/2006/main" w="11430">
            <a:solidFill>
              <a:srgbClr val="74C0FC">
                <a:alpha val="53333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4C0FC"/>
                </a:solidFill>
              </a:defRPr>
            </a:pPr>
            <a:r>
              <a:rPr sz="1125" b="1">
                <a:solidFill>
                  <a:srgbClr val="74C0FC"/>
                </a:solidFill>
              </a:rPr>
              <a:t>IA epidemiologica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A1294-E01A-4B74-9A5B-1C1794F4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>
              <a:alpha val="13333"/>
            </a:srgbClr>
          </a:solidFill>
          <a:ln xmlns:a="http://schemas.openxmlformats.org/drawingml/2006/main" w="11430">
            <a:solidFill>
              <a:srgbClr val="FFD166">
                <a:alpha val="53333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D166"/>
                </a:solidFill>
              </a:defRPr>
            </a:pPr>
            <a:r>
              <a:rPr sz="1125" b="1">
                <a:solidFill>
                  <a:srgbClr val="FFD166"/>
                </a:solidFill>
              </a:rPr>
              <a:t>Fontes oficiais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A7FDF-0F0E-489F-AAE5-96D943C9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6FF"/>
                </a:solidFill>
              </a:defRPr>
            </a:pPr>
            <a:r>
              <a:rPr sz="2550" b="1">
                <a:solidFill>
                  <a:srgbClr val="EAF6FF"/>
                </a:solidFill>
              </a:rPr>
              <a:t>Transformamos sintomas da populacao e dados oficiais em decisao territorial antes que o risco vire crise.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57A80-52DA-4845-9D4E-A8BAAFE6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476500" cy="1714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8DF67-3E2B-4DA1-AE7F-97690BD7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CEA58-102F-4AFB-BC2F-BD43BDE2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2895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Mensagem central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BD903-85F5-494E-AD00-13C95D16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099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Antecipar, coordenar e proteger.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AA11E-DB5A-41FF-9717-59C6219F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1</a:t>
            </a:r>
          </a:p>
        </p:txBody>
      </p:sp>
    </p:spTree>
    <p:extLst>
      <p:ext uri="{BB962C8B-B14F-4D97-AF65-F5344CB8AC3E}">
        <p14:creationId xmlns:p14="http://schemas.microsoft.com/office/powerpoint/2010/main" val="11086814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618A-C2B4-48DE-AFF0-A199EE9D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FB17F-4357-4769-A1A7-9235AC28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2B15C-D2DD-4368-A5B6-DB186DC3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C10CC-FA2A-44B9-82EF-E82CE71E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C930A-9FD7-415A-BDE1-22E0D2C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22CA6-C66D-4FCC-A81B-244ED29B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D3BB4-CCB3-43BE-B02F-5A16FD8C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2618C-D3DF-4503-8FF6-36D0F6C3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DDF0E-5330-4F11-A62C-2C4C2E0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ABAE8-E052-4D7F-8A45-FB5994E0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99B76-C47E-47F4-821E-DFB70A4F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2C514-701E-4B47-9630-04329771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O problema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FC646-3168-41D8-81F2-58080198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A resposta tradicional chega tarde quando os sinais ja estao espalhados.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DEF54-5A4C-4F8A-9780-A39925FA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DA11A-245A-4141-BD1D-6D13292C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Surtos sao percebidos tarde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8C3D2-0658-49BB-A8FB-31CC82D1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0912E-EFF5-4BFD-91EF-919AEB44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Empresas sofrem com afastamentos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B2D22-7063-43FB-946E-F2AE6053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97B37-A45A-491E-847D-FB3D817F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Farmacias perdem previsibilidade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7C116-8B2E-49A3-8E59-E07801B2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875F3-9C73-4AA3-9E08-7741A08E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Hospitais recebem pressao inesperada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35007-3115-4622-B5EE-4B32EEB1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21283-31AD-4B2E-A23F-1764C6DC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43425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Governo precisa agir com evidencias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5F0EC-6F36-4847-AC99-4B1F062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857500" cy="21907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5574">
                <a:alpha val="33333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0301D1-7B8D-4A30-BC92-A5837E9B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574"/>
          </a:solidFill>
          <a:ln xmlns:a="http://schemas.openxmlformats.org/drawingml/2006/main" w="0">
            <a:solidFill>
              <a:srgbClr val="FF557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83AD37-6856-4C52-B258-16E09355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Ponto critico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DA9210-A0AE-4BBE-B20E-F8DC1C1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33700"/>
            <a:ext cx="2438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O desafio nao e apenas coletar dados. E transformar sinais dispersos em acao rapida.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28D791-24FA-4C55-B841-86D39A45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2</a:t>
            </a:r>
          </a:p>
        </p:txBody>
      </p:sp>
    </p:spTree>
    <p:extLst>
      <p:ext uri="{BB962C8B-B14F-4D97-AF65-F5344CB8AC3E}">
        <p14:creationId xmlns:p14="http://schemas.microsoft.com/office/powerpoint/2010/main" val="21028744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92613-8ABA-4E98-87AC-346ACBEE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F784D-F1D1-42F6-BDA3-061D844A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C42EA-42A3-4359-8500-16469709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CD837-6DEF-4A53-A3FE-56C9E1BD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3D094-0A58-43F3-A99D-E1181BE9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727CB-C0AA-402D-8D9D-3DBAECDE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5205B-791B-4D4D-9733-AAF7DD91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DDDB5-201B-402D-9EE6-A918B861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4ABDF-7B2C-42C6-A236-AB0D30E3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02C4F-4ED0-4387-964D-6292C76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C8980-9E1C-4344-A22A-9735B7EC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D5BC4-B530-4191-8F52-F7D2059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A solucao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22684-4A63-4DE2-A5B3-E56298A8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Uma plataforma unica para populacao, empresas, hospitais, farmacias e governo.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90B9E-1454-4063-BA4E-757E6D53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143250" cy="14287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16142-0C5B-41BE-BA5E-BC771951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9F53F-681C-4FB4-9957-14A1A413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App gratuito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A3DFF-F59D-4FC8-B434-0D073A60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2724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A populacao envia sintomas e acompanha alertas da propria regiao.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EF79D-FFB8-47E6-9FA0-E02E8CC2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14287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74C0FC">
                <a:alpha val="33333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122E8-E1F1-44B7-A29F-9847ECAA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0FC"/>
          </a:solidFill>
          <a:ln xmlns:a="http://schemas.openxmlformats.org/drawingml/2006/main" w="0">
            <a:solidFill>
              <a:srgbClr val="74C0F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CF81B-9D14-4481-9D86-57CA6534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09825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Mapa de risco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95A83-2465-4BD9-A34E-EC34DF09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90825"/>
            <a:ext cx="2724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Focos por bairro, municipio, estado e tendencia temporal.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25BA9-F35C-4BE8-8618-E04096C8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3143250" cy="14287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D166">
                <a:alpha val="33333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4C7F0-278C-451F-A2CA-39E66904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C5B5E4-730F-4057-BB4D-6EF475EF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9825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IA e fontes oficiais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7F0E0-25CE-4C96-91D1-91032F34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90825"/>
            <a:ext cx="2724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Classificacao de sinais, crescimento e cruzamento com bases brasileiras.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286905-1484-4796-AD12-DCAFFD05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3</a:t>
            </a:r>
          </a:p>
        </p:txBody>
      </p:sp>
    </p:spTree>
    <p:extLst>
      <p:ext uri="{BB962C8B-B14F-4D97-AF65-F5344CB8AC3E}">
        <p14:creationId xmlns:p14="http://schemas.microsoft.com/office/powerpoint/2010/main" val="8214886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76D-84A3-474C-9C12-4B6D25EA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2B7AC-3DC8-495A-97CE-52363291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EE82D-F813-4D22-901A-0115B127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4F3AA-B723-4116-B048-17786CF8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8DF9E-8886-44F9-A987-D08B802F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050E9-B610-48B1-B5BA-256801EE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C302E-0009-4D90-AC64-60780133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D9021-3245-422E-9949-F12AC521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53AE1-7D3B-47E2-8D5E-7FAFD860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7A305-4A8F-40C9-8FD6-E38AE02B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E8338-F17E-4C1B-8B31-AEE926E5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1F5D2-6EF5-4E94-870A-F4D73E7C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Como funciona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6BB7C-7ECF-4595-978F-D4D418DA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Do sintoma individual ao painel de decisao territorial.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8D138-822D-4490-8078-18319C3B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762125" cy="1333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541B6-0449-4327-AB2F-B1DFF919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86FFE-DF4E-4760-A295-A34F9927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86075"/>
            <a:ext cx="1343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1. Envio no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72834-C23C-4EFB-9588-6150FEDD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67075"/>
            <a:ext cx="1343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Sinal colaborativo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D852A-64AC-401D-915B-AD116296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38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D166"/>
                </a:solidFill>
              </a:defRPr>
            </a:pPr>
            <a:r>
              <a:rPr sz="2700" b="1">
                <a:solidFill>
                  <a:srgbClr val="FFD166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F4B8C-60FE-4DE6-87E0-B2D91A7E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14625"/>
            <a:ext cx="1762125" cy="1333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74C0FC">
                <a:alpha val="33333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9BCB2-725B-488B-9FBE-B46DE5B3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14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0FC"/>
          </a:solidFill>
          <a:ln xmlns:a="http://schemas.openxmlformats.org/drawingml/2006/main" w="0">
            <a:solidFill>
              <a:srgbClr val="74C0F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9E2EA-DD98-421F-B814-E52525F4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86075"/>
            <a:ext cx="1343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2. Antifraude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77AC39-E03D-4E97-B27E-148D2EF6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67075"/>
            <a:ext cx="1343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Rede, aparelho e confianca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7FD80-F586-4560-A61A-BD50B240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38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D166"/>
                </a:solidFill>
              </a:defRPr>
            </a:pPr>
            <a:r>
              <a:rPr sz="2700" b="1">
                <a:solidFill>
                  <a:srgbClr val="FFD166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B3210-966C-4E5E-A7CF-6C3D7F8A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1762125" cy="1333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090CF-6B7E-442C-94A3-6B6A6126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68905-81AD-47AC-B4BE-6BB93DBC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86075"/>
            <a:ext cx="1343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3. IA classifica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077C7-3644-40BD-B05C-4BFB9489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67075"/>
            <a:ext cx="1343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Padrao epidemiologico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DF8FBA-8E48-4590-9745-A6868757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38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D166"/>
                </a:solidFill>
              </a:defRPr>
            </a:pPr>
            <a:r>
              <a:rPr sz="2700" b="1">
                <a:solidFill>
                  <a:srgbClr val="FFD166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C3CAA-7812-4429-B3E4-10271EA2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1762125" cy="1333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74C0FC">
                <a:alpha val="33333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AE3F48-8C1B-4669-BD23-F55515C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0FC"/>
          </a:solidFill>
          <a:ln xmlns:a="http://schemas.openxmlformats.org/drawingml/2006/main" w="0">
            <a:solidFill>
              <a:srgbClr val="74C0F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44A2D3-8DCB-4CC4-9CE6-FC75DE35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6075"/>
            <a:ext cx="1343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4. Mapa mostra foco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E1D864-3F78-4735-A66B-38835A64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67075"/>
            <a:ext cx="1343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Bairro, cidade e estado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706B52-A57A-4C9E-A868-D09B2745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38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D166"/>
                </a:solidFill>
              </a:defRPr>
            </a:pPr>
            <a:r>
              <a:rPr sz="2700" b="1">
                <a:solidFill>
                  <a:srgbClr val="FFD166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37E2D5-1B96-4E7D-8E19-3F38BD63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14625"/>
            <a:ext cx="1762125" cy="1333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9D48AE-9DFE-41C0-9669-0844C802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14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2B2273-6C08-48E2-8A7B-83586E98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86075"/>
            <a:ext cx="1343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5. Organizacao 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1675F8-9D1D-42C0-A3A6-923E758D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67075"/>
            <a:ext cx="1343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Alerta e resposta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E18858-DAEA-41B5-9223-6B9E87AC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4</a:t>
            </a:r>
          </a:p>
        </p:txBody>
      </p:sp>
    </p:spTree>
    <p:extLst>
      <p:ext uri="{BB962C8B-B14F-4D97-AF65-F5344CB8AC3E}">
        <p14:creationId xmlns:p14="http://schemas.microsoft.com/office/powerpoint/2010/main" val="13330342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20CC7-8AA0-4939-8729-AF431B4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0F8F7-7DAA-4CB8-B485-B059CE10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D910E-1D99-4A00-B589-6C619E84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9232D-6550-48DE-9151-D4A84525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96BBA-EDF4-4AD4-85AE-816A2E10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C0883-DD57-4E24-8901-05F164BC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889FE-AE22-4855-BE5B-F4030E70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BE118-4B32-4228-AAA3-7FAE8A20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5FF58-5080-4202-B8A3-E245012C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81465-9AE3-4ED5-A280-B6D10BE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FC4B4-447F-4C39-9A4F-6180FB05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8D9B3-9D65-446C-A411-A3A18E27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Mapa de risco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96EF1-7315-4431-B96A-D47B6AD3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O mapa nao e estetica. Ele e decisao territorial.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50F24-3B1D-4DFE-BF6D-51284859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571750" cy="2000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C2462-B373-461F-B6A4-27190015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8A006-D40A-4467-B739-C2951B65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Territorio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5389D-CD72-471A-ABC5-F5BADBAF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152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Bairro, municipio, estado e recorte regional.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A2886-2E51-4B8E-ADA2-8E0AFD17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571750" cy="2000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D166">
                <a:alpha val="33333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F7FF4-6977-47E0-8FFF-72119DF3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59BEE-7E0B-489E-971D-4A15AC60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6220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Crescimento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3179E-80E3-4DBF-B5F4-09F91765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2152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Percentual, tendencia e nivel de risco.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6A9BE-5B7A-4097-AFE9-2630496D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571750" cy="2000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74C0FC">
                <a:alpha val="33333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05A9F-177F-462B-A0BE-5B4CC3A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0FC"/>
          </a:solidFill>
          <a:ln xmlns:a="http://schemas.openxmlformats.org/drawingml/2006/main" w="0">
            <a:solidFill>
              <a:srgbClr val="74C0F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431E15-BB39-400E-B797-06CEBF8A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Decaimento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ACA60E-7A8C-40A8-B1E2-D7033B25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43200"/>
            <a:ext cx="2152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10 dias estaveis e reducao gradual ate 30 dias sem novos sinais.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684B5-0F05-4BEE-AFC6-9F57BF8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619250" cy="2000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5574">
                <a:alpha val="33333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2D3594-F706-48FA-87D2-B28C67AF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574"/>
          </a:solidFill>
          <a:ln xmlns:a="http://schemas.openxmlformats.org/drawingml/2006/main" w="0">
            <a:solidFill>
              <a:srgbClr val="FF557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EC5D5-A014-4AD1-9F8D-CBE8E5BF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622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Foco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85C59-E226-4ECD-ACE9-45346657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43200"/>
            <a:ext cx="1200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Ponto, area ou camada de calor.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1715A4-4604-4F56-878E-F3840802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5</a:t>
            </a:r>
          </a:p>
        </p:txBody>
      </p:sp>
    </p:spTree>
    <p:extLst>
      <p:ext uri="{BB962C8B-B14F-4D97-AF65-F5344CB8AC3E}">
        <p14:creationId xmlns:p14="http://schemas.microsoft.com/office/powerpoint/2010/main" val="20695500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9F5F7-23AC-496F-83F9-E4552198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BA61B-BC9D-4C11-9023-B2672955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865DC-D3ED-4408-AA12-8C053185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C201A-AC38-4318-A52D-3B8E4202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3AB62-0E0A-413B-80D9-3D686BB6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1D14E-7402-4628-AEF1-6A0D8304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AB74B-79A7-4A3F-97E5-EF08553C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0F9F4-83D0-4257-AD38-DE2F269F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7EB9D-A33B-449F-A90F-1289AE1F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C1F80-DF0F-4D12-8870-90508130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8984A-C106-4765-8EC0-DA3A0AEB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C7833-D9A5-4C14-BFF3-3605E271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Brasil Oficial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2387A-F26F-45E8-97F5-FD6E503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Sinal colaborativo antecipa. Fonte oficial valida e contextualiza.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2454F-D488-4B9E-A4D9-FFF4044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0BA1A-1A47-47CE-A315-35F698C2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IBGE/SIDRA: populacao e denominadores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1AB28-EB6C-4774-8256-FC67B1CF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40270-16B3-474D-98C3-D09A7F06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InfoDengue/Fiocruz: arboviroses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DFF16-E819-44D4-8401-29A5F2B7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2CD9E-3D11-4E67-B96A-274CB531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InfoGripe/Fiocruz: SRAG e respiratorio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62027-C969-41F0-8623-71567EC6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0143F-32B2-41AA-A0DB-BE89BA5D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OpenDataSUS e DATASUS: bases institucionais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64861-6C07-43FF-9CB9-8FF0D326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0CCB3-77F4-4E17-AEE5-AFB9CC43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SINAN, SIM, SIH e SIVEP-Gripe catalogados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32AC1-1DBD-479A-93A1-6780B336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19375"/>
            <a:ext cx="2381250" cy="1762125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D166">
                <a:alpha val="33333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2EEBF8-D4E8-4A8B-86D9-9E431DAE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19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D7FE17-D132-418F-BAD6-B1035D83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90825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Regra de ouro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C73C8-2391-4B95-8A92-A793D704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71825"/>
            <a:ext cx="1962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Nao misturar sinal colaborativo com caso oficial confirmado.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9F932A-CBC9-4D06-83A8-461D5BCB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6</a:t>
            </a:r>
          </a:p>
        </p:txBody>
      </p:sp>
    </p:spTree>
    <p:extLst>
      <p:ext uri="{BB962C8B-B14F-4D97-AF65-F5344CB8AC3E}">
        <p14:creationId xmlns:p14="http://schemas.microsoft.com/office/powerpoint/2010/main" val="15755153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B3361-7690-4B30-AB8C-979348E5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E0783-347F-4F09-BA33-A304FC12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3954A-B18D-40C2-89CC-872526EA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14E89-7B41-4260-9508-7492FE0F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C4837-9B3A-42BD-948B-9935EC9B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054EC-443F-4A7B-8376-5407053A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FC4A4-1F35-4A45-9A7E-CC0F4D3F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AE395-AEBA-42F0-8777-245E933B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846CA-7EE3-481B-B94F-CE3489EF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90676-8F9A-463A-9AB3-DAE6F2DB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BFFBC-A41C-4C1F-8F98-F3131552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5C243-D1DE-4780-838A-359B1BBE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Valor para empresas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75CCD-C8C2-45BC-B64B-0FE6207F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Saude ocupacional e continuidade operacional.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FBD4B-4BA7-453D-A9F3-00313EC3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15240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7EE16-4D08-4B2A-970D-DBD5EEEF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DB91D-7879-45F2-A262-B62FBBD8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Reduzir afastamentos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AE604-1212-42EE-B407-D22BD0AA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86075"/>
            <a:ext cx="2628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Monitorar crescimento de sintomas antes de uma onda interna.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2E27D-F5DF-4C79-B988-D2254A71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15240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74C0FC">
                <a:alpha val="33333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AFBE4-E8E9-47D0-82E4-D374B6D3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0FC"/>
          </a:solidFill>
          <a:ln xmlns:a="http://schemas.openxmlformats.org/drawingml/2006/main" w="0">
            <a:solidFill>
              <a:srgbClr val="74C0F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AFB6B-A337-4770-9BF4-6ACF55F6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05075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Filiais e regioes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4E38B-C158-40D2-AE87-16985E5B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86075"/>
            <a:ext cx="2628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Comparar risco por unidade, cidade e territorio.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723C7-1A38-4E44-B3B2-58648344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15240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D166">
                <a:alpha val="33333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0BC4D-6803-4C0F-9153-35B80B5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77CDC-AA5C-4201-BA72-45D8ABF8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05075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Planos B2B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7AA252-D696-4793-98F1-B75643AD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86075"/>
            <a:ext cx="2628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A partir de R$ 799/mes conforme pacote.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096A1-ADCA-4208-98F9-6A41E442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7</a:t>
            </a:r>
          </a:p>
        </p:txBody>
      </p:sp>
    </p:spTree>
    <p:extLst>
      <p:ext uri="{BB962C8B-B14F-4D97-AF65-F5344CB8AC3E}">
        <p14:creationId xmlns:p14="http://schemas.microsoft.com/office/powerpoint/2010/main" val="6983775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0783D-3C2E-43B9-A3A3-3DADC1A9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C3DCE-555E-4032-B437-5BE4C7EF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4F280-DD8D-4814-A1B0-C989690D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9F1F5-756E-4E37-8A3E-CFF5DD95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F5471-8E16-4738-8F25-2582EECF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49B3D-F4B7-4353-A803-0D79CBFA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9EF0F-A569-40EE-98DF-97C1F7D4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71D72-4627-49C2-9675-E17D6CC3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50850-2C9B-47AC-AE07-D9A669EA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1FDA2-D4C5-472E-9E2C-E7F2789C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D6470-0912-4D41-9602-59BBE7C6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24411-7748-46E5-AFDF-17A9BADD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Valor para farmacias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1FFDB-F2AC-4F48-B240-7838ADA6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Estoque orientado por risco epidemiologico.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16D92-A41D-4053-B242-839FFA04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1619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C0FF0-1BC9-4487-B5BE-FBB6D03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7E9FA-E80F-4101-AE59-97BE945A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0507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Demanda por bairro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C6BA8-D017-4CC7-A8DB-403409FB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86075"/>
            <a:ext cx="2438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Ver onde sintomas crescem e ajustar abastecimento.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1D895-F2EF-46CF-AA0F-6E4598F5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57500" cy="1619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74C0FC">
                <a:alpha val="33333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D5C2E-BE98-4B53-9CE0-4E70D92C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0FC"/>
          </a:solidFill>
          <a:ln xmlns:a="http://schemas.openxmlformats.org/drawingml/2006/main" w="0">
            <a:solidFill>
              <a:srgbClr val="74C0F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1B1F3C-274F-451A-B176-6B04A3A6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0507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Classes de sintomas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C3DDD-0B61-4F2C-A18E-1F385220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86075"/>
            <a:ext cx="2438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Respiratorio, arboviroses, febre, dor e cansaco.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0D857-6B66-41EE-8731-191FAE14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2857500" cy="1619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D166">
                <a:alpha val="33333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8C47F6-1962-431A-997D-734F4051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CCBF8-790D-4BD6-A05F-9BCA43F8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0507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Pacotes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207E20-E1FE-474F-B075-6DFB4FC2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86075"/>
            <a:ext cx="2438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Farmacia Local e Rede Farmaceutica Regional.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040526-25E8-46FE-B168-2A7A983F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8</a:t>
            </a:r>
          </a:p>
        </p:txBody>
      </p:sp>
    </p:spTree>
    <p:extLst>
      <p:ext uri="{BB962C8B-B14F-4D97-AF65-F5344CB8AC3E}">
        <p14:creationId xmlns:p14="http://schemas.microsoft.com/office/powerpoint/2010/main" val="152409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DC337-5F32-47C3-B92E-8081CBE8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CF0A6-A1D6-4AE4-A4AC-3EB01DCA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2FB11-9EB1-49FD-9660-1A8584DB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7303E-67B9-458E-A141-F80E9980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AF382-1827-43DA-A8ED-19EEB3A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617F1-8939-405A-A85A-6A04AF23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113F5-9150-45BC-BD3F-F2B4DC53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72442-8EFD-4012-B2D0-270D2C84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4195E-9FC5-494D-B434-B79F94F7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37D7B-D7A3-4F38-8877-78985B53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2B268-695C-4C70-B58D-83985D20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851B7-9457-40A0-BCC6-70954ACE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Valor para hospitais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2B09C-8F55-499C-A7D7-B3353F30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Preparar pronto atendimento antes da pressao chegar.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2C55F-BB64-42D3-BD64-7D8FA0C9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A2FD1-FF19-4E90-8AFB-F85DBA46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619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Antecipar demanda por triagem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51881-6692-4B05-8D6C-4B5CA8DA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F65A2-4779-484F-B8B1-D05986D3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619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Monitorar SRAG e arboviroses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95CBA-450E-4549-AC12-B59EADA3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B5749-05CD-43FA-A914-2AB66F43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619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Preparar leitos e equipes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FE9CA-A898-4B12-BB3D-7FA249DF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D8072-A35B-4DC9-9C7C-63F66EAB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619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Apoiar plano de contingencia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6C83A-3FA8-4F16-9D48-D359B856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2857500" cy="18097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5574">
                <a:alpha val="33333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74ED0-B1FC-4B33-B690-567FD30E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574"/>
          </a:solidFill>
          <a:ln xmlns:a="http://schemas.openxmlformats.org/drawingml/2006/main" w="0">
            <a:solidFill>
              <a:srgbClr val="FF557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8CF0D-6EDE-45E7-A335-5F000562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9557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Oferta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2F7EFC-81C2-472C-82A0-4F9D7DC6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76575"/>
            <a:ext cx="243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Hospital Medio e Rede Hospitalar com monitoramento territorial.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A5362E-CE71-4817-A507-9DDA9F57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9</a:t>
            </a:r>
          </a:p>
        </p:txBody>
      </p:sp>
    </p:spTree>
    <p:extLst>
      <p:ext uri="{BB962C8B-B14F-4D97-AF65-F5344CB8AC3E}">
        <p14:creationId xmlns:p14="http://schemas.microsoft.com/office/powerpoint/2010/main" val="12450636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F41E7-B2CB-4851-98F7-74CFF5CC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D39B3-4449-4346-A82F-099203A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71643-3355-45B1-86BE-4C6312E9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C0E82-1C55-4F63-AA4D-E16ADAD2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C1FC9-EFE0-491F-A5AF-45C31CC0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75866-5556-4624-BEE1-F2D4A720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59B30-7E92-4025-B700-DA1EB8A8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389FB-364E-43A5-821C-BDCEC194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A5C67-FCB8-42E9-BB14-BC6FAB86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7F639-5587-4430-B09F-B3D20C24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FD8BD-0FCF-4927-86F1-0A953641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6D3B9-F5E5-406F-BC58-8B9591C9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Valor para governo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43D32-7CEE-4AC6-8C35-F9E300D0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Ambiente separado, institucional e protegido.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0DB8D-12CF-4337-852F-294B7F44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1571625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D166">
                <a:alpha val="33333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1C3BA-E0F1-4F07-B70A-050228A6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919BE-FC60-42C6-9760-5F560AE4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Contrato anual fechado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36794-63EF-49C2-B0CE-51AC6C5F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724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Governo nao e mensalidade simples. Ha escopo, SLA e governanca.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A5252-2C37-4DB7-8C7F-2772AF45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1571625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0E1DC-CF13-4846-9250-2C19612D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9948A-53E0-44BD-9768-1AE055B0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622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Alertas oficiais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FCBEE-E462-4D9A-A659-4FFF731D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43200"/>
            <a:ext cx="2724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Governo emite comunicados para o app da populacao.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FA9A6-9402-49C9-BA9B-5034034F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1571625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74C0FC">
                <a:alpha val="33333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CE117-43C4-4AC8-B2B8-7618CCF3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0FC"/>
          </a:solidFill>
          <a:ln xmlns:a="http://schemas.openxmlformats.org/drawingml/2006/main" w="0">
            <a:solidFill>
              <a:srgbClr val="74C0F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6442F2-9739-4ABE-ACAD-8719D4BB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Sala de controle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53C42-7318-47CF-A266-89C2095D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2724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Monitoramento por populacao coberta, territorio e fontes oficiais.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6F8C10-E13D-4037-9F2C-CCBE7F1E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10</a:t>
            </a:r>
          </a:p>
        </p:txBody>
      </p:sp>
    </p:spTree>
    <p:extLst>
      <p:ext uri="{BB962C8B-B14F-4D97-AF65-F5344CB8AC3E}">
        <p14:creationId xmlns:p14="http://schemas.microsoft.com/office/powerpoint/2010/main" val="21164033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2AC3B-79F8-4D18-ACC7-C1A12445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644E6-B9E4-4B31-B227-13CB6CB5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64397-A157-47C8-815D-A0282F64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EF6C9-3C31-47DE-860F-E1321229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B3538-04E8-40FA-8E00-DEF8514A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B597A-6081-48FE-904C-66B2678E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0382F-2714-4F0B-8B81-CFEFA09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48835-31DF-4DCF-A58D-EB253EF9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0F560-3527-454E-B122-CB7C65C7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125CF-AAC0-454B-AC3A-0B86FDBC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9728D-C372-4971-81AB-B9D47B70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38668-5C4E-4947-9EED-B798D140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Seguranca e LGPD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F7D61-F8D9-4700-A85A-5734D162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Confianca e parte do produto.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8B00F-1B10-45F0-B4AA-5F9924B5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46B92-F8E9-4471-8FCE-9D398C64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Dados agregados e finalidade epidemiologica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5DD89-BFAE-4B56-8619-797293CF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5D616-4FDA-4904-B8CA-3C0E3FA1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Controle de dispositivos e usuarios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86F78-2E7F-42B2-950E-A10242A5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40DD4-DB50-4291-9885-F8215C27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Sessao unica por usuario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F30C4-C4EB-439A-8DCA-96E35DC4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DDF96-1D93-4F2C-9B5A-D98B0825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Antifraude no envio populacional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DDBC7-8762-41AD-A6DA-4F3C13A9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6289E-704F-45A7-97A5-BE341772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Auditoria e separacao de ambientes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CE1E7-E0CD-4969-B043-9DC63393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2190750" cy="1619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3AD8AB-B157-4D1C-BDD6-84F68E6B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81072-12EF-4C2F-B097-09741597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908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Mensagem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97E5AB-F0E0-4D92-A5F1-1F93149C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71825"/>
            <a:ext cx="1771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Monitoramos risco territorial, nao expomos pessoas.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6B1AF0-3B30-48A0-8388-389992A2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11</a:t>
            </a:r>
          </a:p>
        </p:txBody>
      </p:sp>
    </p:spTree>
    <p:extLst>
      <p:ext uri="{BB962C8B-B14F-4D97-AF65-F5344CB8AC3E}">
        <p14:creationId xmlns:p14="http://schemas.microsoft.com/office/powerpoint/2010/main" val="3762384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F056D-C673-4468-A6CA-F5E8663A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F22D8-7512-47D6-8C92-7A37FC3D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1F54B-92FB-4362-8FCA-45C97D4B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E7FCE-B379-4065-983C-C26E107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7AFC3-D556-4BEB-9ADE-EC84A5F0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5EB01-2F68-4BB1-AF49-4B6A192E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B25A9-0A98-4767-B2F0-1FA685FF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97210-1CA4-49A8-9725-15713691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970E5-EE28-46F3-A9ED-ADF5580B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31E92-AD3C-4385-A564-08022CDB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6D463-01F0-4BA0-8883-20F656D0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9A252-7BE5-43F8-8E5F-1E387152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Modelo comercial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AE356-6A8B-465A-8EAD-DF870AAB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Preco por valor entregue, setor e cobertura.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FE563-2311-4D7B-95D0-7EEB3E66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381250" cy="1714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BABFD-5BFC-4254-ABA4-03D4213D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FC2F8-0FB7-4040-9F05-E324EAE8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Empresas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EA6A2-C98C-44EE-A555-3DB7BDE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95575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A partir de R$ 799/mes.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F1116-D5D3-4D9C-9F00-79FFED27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381250" cy="1714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74C0FC">
                <a:alpha val="33333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95942-6964-47F8-A592-4461E3C5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0FC"/>
          </a:solidFill>
          <a:ln xmlns:a="http://schemas.openxmlformats.org/drawingml/2006/main" w="0">
            <a:solidFill>
              <a:srgbClr val="74C0F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A2341-3339-4A28-8CD6-C1BDBC38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14575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Farmacias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53E7D-C59B-4589-A20C-0F639D01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95575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A partir de R$ 699/mes.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B1939-EC75-4F01-B0C0-F5B5CB27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381250" cy="1714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5574">
                <a:alpha val="33333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CA477-6C57-4829-8780-F5288B02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574"/>
          </a:solidFill>
          <a:ln xmlns:a="http://schemas.openxmlformats.org/drawingml/2006/main" w="0">
            <a:solidFill>
              <a:srgbClr val="FF557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15102B-850A-4077-83FE-18067C7B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14575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Hospitais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06A30-0085-4D4F-BF0F-F869A37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95575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A partir de R$ 12 mil/mes.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76239-986D-461C-A66C-B86BD969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381250" cy="1714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FFD166">
                <a:alpha val="33333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DFDC62-6A26-4D18-BC52-C31B3C5E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9D6703-0F91-483D-BF60-CFD0B08E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14575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Governo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D6A803-38DD-4F98-8E19-6F1E782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95575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Contrato anual a partir de R$ 120 mil/ano.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A17F6B-6F03-4090-BBD1-CD707AAD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12</a:t>
            </a:r>
          </a:p>
        </p:txBody>
      </p:sp>
    </p:spTree>
    <p:extLst>
      <p:ext uri="{BB962C8B-B14F-4D97-AF65-F5344CB8AC3E}">
        <p14:creationId xmlns:p14="http://schemas.microsoft.com/office/powerpoint/2010/main" val="4556536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2E3BC-F419-41F2-A478-45906DD5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F63AA-2BCD-4123-B0BE-02CA2CA6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25DC2-1744-45B5-AA9C-698C223A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E9E7A-58A4-4010-917A-7BC6FEB7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AC4E0-ACDA-4DD8-A2CD-D0B1572B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3FE66-2C33-457A-AB81-C9D1AAFA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9D92F-0C93-4C58-8743-42DF3A9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8C7B2-EEE8-4D9A-9095-34395D7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5AE68-4400-4845-AF0F-5BF8114E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1A398-F762-4E50-AA34-DED8BA5C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4C770-B17C-4D82-8627-3BA91A5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9A31A-8CBF-4E3F-B926-F6402F92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Frase de impacto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F14F2-228E-4424-8D01-BCFF359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Para fechar a apresentacao.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FAA00-F750-4209-B091-83C315D7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971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AF6FF"/>
                </a:solidFill>
              </a:defRPr>
            </a:pPr>
            <a:r>
              <a:rPr sz="3150" b="1">
                <a:solidFill>
                  <a:srgbClr val="EAF6FF"/>
                </a:solidFill>
              </a:rPr>
              <a:t>O SolusCRT transforma sintomas da populacao e dados oficiais em decisao territorial antes que o risco vire crise.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F4ED3-4AF8-4482-B3AC-E21882DA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E6D0">
              <a:alpha val="13333"/>
            </a:srgbClr>
          </a:solidFill>
          <a:ln xmlns:a="http://schemas.openxmlformats.org/drawingml/2006/main" w="11430">
            <a:solidFill>
              <a:srgbClr val="32E6D0">
                <a:alpha val="53333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2E6D0"/>
                </a:solidFill>
              </a:defRPr>
            </a:pPr>
            <a:r>
              <a:rPr sz="1125" b="1">
                <a:solidFill>
                  <a:srgbClr val="32E6D0"/>
                </a:solidFill>
              </a:rPr>
              <a:t>Antecipar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399A4-7585-42EC-8F73-01C92E53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767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C0FC">
              <a:alpha val="13333"/>
            </a:srgbClr>
          </a:solidFill>
          <a:ln xmlns:a="http://schemas.openxmlformats.org/drawingml/2006/main" w="11430">
            <a:solidFill>
              <a:srgbClr val="74C0FC">
                <a:alpha val="53333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4C0FC"/>
                </a:solidFill>
              </a:defRPr>
            </a:pPr>
            <a:r>
              <a:rPr sz="1125" b="1">
                <a:solidFill>
                  <a:srgbClr val="74C0FC"/>
                </a:solidFill>
              </a:rPr>
              <a:t>Coordenar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155A7-058F-4F0A-B259-A05D663C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>
              <a:alpha val="13333"/>
            </a:srgbClr>
          </a:solidFill>
          <a:ln xmlns:a="http://schemas.openxmlformats.org/drawingml/2006/main" w="11430">
            <a:solidFill>
              <a:srgbClr val="FFD166">
                <a:alpha val="53333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D166"/>
                </a:solidFill>
              </a:defRPr>
            </a:pPr>
            <a:r>
              <a:rPr sz="1125" b="1">
                <a:solidFill>
                  <a:srgbClr val="FFD166"/>
                </a:solidFill>
              </a:rPr>
              <a:t>Proteger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98D60-EABD-40BB-BFBB-047A57C2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13</a:t>
            </a:r>
          </a:p>
        </p:txBody>
      </p:sp>
    </p:spTree>
    <p:extLst>
      <p:ext uri="{BB962C8B-B14F-4D97-AF65-F5344CB8AC3E}">
        <p14:creationId xmlns:p14="http://schemas.microsoft.com/office/powerpoint/2010/main" val="13747831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059DD1-BAB6-45D9-B6C6-A72FBD27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7EEBC-B346-47FD-BE60-378B19A9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>
                <a:srgbClr val="06111B"/>
              </a:gs>
              <a:gs>
                <a:srgbClr val="0C2232"/>
              </a:gs>
              <a:gs>
                <a:srgbClr val="02070D"/>
              </a:gs>
            </a:gsLst>
          </a:gradFill>
          <a:ln xmlns:a="http://schemas.openxmlformats.org/drawingml/2006/main" w="0">
            <a:solidFill>
              <a:srgbClr val="0611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54189-C86D-480A-A683-8D315233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254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67752-F938-4443-94E5-F028B519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176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EEE46-0535-49C6-A78B-C38F01BA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98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C5AFB-0A0E-4377-B622-E1F64027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10196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D0D7D-CD43-45C0-84BE-DC0B8299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9412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C428C-889B-4E3C-8031-D9096F5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8627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4985C-9ACE-4990-AB76-8D3D0D61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0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843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B7F57-00DA-4CC4-8FE1-8269A973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7059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806BA-B88E-4725-934A-EDC54B46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6275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7BE7F-27A5-4F7B-99E0-C8DE9AC1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>
              <a:alpha val="5490"/>
            </a:srgbClr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CFEBE-22C4-4281-8A17-55051C17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6FF"/>
                </a:solidFill>
              </a:defRPr>
            </a:pPr>
            <a:r>
              <a:rPr sz="3450" b="1">
                <a:solidFill>
                  <a:srgbClr val="EAF6FF"/>
                </a:solidFill>
              </a:rPr>
              <a:t>Proximo passo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DB63F-B454-43C5-812C-9362A0D9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4DB"/>
                </a:solidFill>
              </a:defRPr>
            </a:pPr>
            <a:r>
              <a:rPr sz="1500" b="0">
                <a:solidFill>
                  <a:srgbClr val="9CC4DB"/>
                </a:solidFill>
              </a:rPr>
              <a:t>Diagnostico, escopo e implantacao assistida.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ADC6B-C1E5-4971-8E74-D8700250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0E0E2-E22B-4553-990D-AC44140B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Reuniao de diagnostico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A08D3-5990-406C-88E1-F5880B8A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97F69-B5D5-4302-AF5B-E136A49F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Definicao de setor e territorio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C7C19-0F2C-4F40-AB22-0CD23693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6431F-95D4-46D2-85B4-9592C6E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Escolha do pacote ou contrato anual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25864-2B2F-48F9-891F-C8388BDA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3A1AF-E7C5-4244-A474-93EA7A90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Implantacao assistida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79698-DAF3-43DA-8A53-B9595D0A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C35D5-C64B-4269-BEDB-139E6A76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6FF"/>
                </a:solidFill>
              </a:defRPr>
            </a:pPr>
            <a:r>
              <a:rPr sz="1650" b="0">
                <a:solidFill>
                  <a:srgbClr val="EAF6FF"/>
                </a:solidFill>
              </a:rPr>
              <a:t>Treinamento e acompanhamento dos primeiros indicadores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DB8A7-2D9B-4381-81F6-4905E009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190750" cy="14287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F2A3B">
              <a:alpha val="86667"/>
            </a:srgbClr>
          </a:solidFill>
          <a:ln xmlns:a="http://schemas.openxmlformats.org/drawingml/2006/main" w="9525">
            <a:solidFill>
              <a:srgbClr val="32E6D0">
                <a:alpha val="33333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98F4C-0E99-44A4-8B4C-B6CABF86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E6D0"/>
          </a:solidFill>
          <a:ln xmlns:a="http://schemas.openxmlformats.org/drawingml/2006/main" w="0">
            <a:solidFill>
              <a:srgbClr val="32E6D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27A74F-7435-44E5-81FA-3BEBAA49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6FF"/>
                </a:solidFill>
              </a:defRPr>
            </a:pPr>
            <a:r>
              <a:rPr sz="1575" b="1">
                <a:solidFill>
                  <a:srgbClr val="EAF6FF"/>
                </a:solidFill>
              </a:rPr>
              <a:t>Chamada final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4ED0B7-632D-498A-847A-D9F514F1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9950"/>
            <a:ext cx="1771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4DB"/>
                </a:solidFill>
              </a:defRPr>
            </a:pPr>
            <a:r>
              <a:rPr sz="1275" b="0">
                <a:solidFill>
                  <a:srgbClr val="9CC4DB"/>
                </a:solidFill>
              </a:rPr>
              <a:t>Vamos antecipar o risco antes que ele vire crise.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1BD07-3200-4E73-A549-6E0FE9BF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91A6"/>
                </a:solidFill>
              </a:defRPr>
            </a:pPr>
            <a:r>
              <a:rPr sz="975" b="0">
                <a:solidFill>
                  <a:srgbClr val="6F91A6"/>
                </a:solidFill>
              </a:rPr>
              <a:t>SolusCRT Saude | 14</a:t>
            </a:r>
          </a:p>
        </p:txBody>
      </p:sp>
    </p:spTree>
    <p:extLst>
      <p:ext uri="{BB962C8B-B14F-4D97-AF65-F5344CB8AC3E}">
        <p14:creationId xmlns:p14="http://schemas.microsoft.com/office/powerpoint/2010/main" val="1937045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2026-04-21T07:58:33.6440000Z</dcterms:created>
  <dcterms:modified xsi:type="dcterms:W3CDTF">2026-04-21T07:58:33.6440000Z</dcterms:modified>
</coreProperties>
</file>